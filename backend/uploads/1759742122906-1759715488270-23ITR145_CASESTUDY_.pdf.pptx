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Bold" charset="1" panose="02020803070505020304"/>
      <p:regular r:id="rId17"/>
    </p:embeddedFont>
    <p:embeddedFont>
      <p:font typeface="Montserrat Bold" charset="1" panose="00000600000000000000"/>
      <p:regular r:id="rId18"/>
    </p:embeddedFont>
    <p:embeddedFont>
      <p:font typeface="Open Sans" charset="1" panose="020B0606030504020204"/>
      <p:regular r:id="rId19"/>
    </p:embeddedFont>
    <p:embeddedFont>
      <p:font typeface="Times New Roman" charset="1" panose="020206030504050203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29000" y="2383536"/>
            <a:ext cx="2063496" cy="1600200"/>
          </a:xfrm>
          <a:custGeom>
            <a:avLst/>
            <a:gdLst/>
            <a:ahLst/>
            <a:cxnLst/>
            <a:rect r="r" b="b" t="t" l="l"/>
            <a:pathLst>
              <a:path h="1600200" w="2063496">
                <a:moveTo>
                  <a:pt x="0" y="0"/>
                </a:moveTo>
                <a:lnTo>
                  <a:pt x="2063496" y="0"/>
                </a:lnTo>
                <a:lnTo>
                  <a:pt x="2063496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1976" y="6620256"/>
            <a:ext cx="2218944" cy="2761488"/>
          </a:xfrm>
          <a:custGeom>
            <a:avLst/>
            <a:gdLst/>
            <a:ahLst/>
            <a:cxnLst/>
            <a:rect r="r" b="b" t="t" l="l"/>
            <a:pathLst>
              <a:path h="2761488" w="2218944">
                <a:moveTo>
                  <a:pt x="0" y="0"/>
                </a:moveTo>
                <a:lnTo>
                  <a:pt x="2218944" y="0"/>
                </a:lnTo>
                <a:lnTo>
                  <a:pt x="2218944" y="2761488"/>
                </a:lnTo>
                <a:lnTo>
                  <a:pt x="0" y="2761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10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36243" y="1816430"/>
            <a:ext cx="10233197" cy="9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4"/>
              </a:lnSpc>
            </a:pPr>
            <a:r>
              <a:rPr lang="en-US" b="true" sz="5595" spc="1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ENGINEERING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36243" y="3518514"/>
            <a:ext cx="11399024" cy="199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5" spc="71" b="true">
                <a:solidFill>
                  <a:srgbClr val="196E9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FinEdge Case Study</a:t>
            </a:r>
          </a:p>
          <a:p>
            <a:pPr algn="l">
              <a:lnSpc>
                <a:spcPts val="5174"/>
              </a:lnSpc>
            </a:pPr>
            <a:r>
              <a:rPr lang="en-US" sz="3696" spc="66" b="true">
                <a:solidFill>
                  <a:srgbClr val="0F6FC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Navigating Third-Party Dependency Challenges</a:t>
            </a:r>
          </a:p>
          <a:p>
            <a:pPr algn="l">
              <a:lnSpc>
                <a:spcPts val="517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049887" y="9564851"/>
            <a:ext cx="6238113" cy="5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b="true" sz="2911" spc="-2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SANTHOSH RAMESH(23ITR145)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17260" y="2762536"/>
            <a:ext cx="84144" cy="51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b="true" sz="2498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361" y="1418908"/>
            <a:ext cx="16338457" cy="559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🔴 Dependency Crisis</a:t>
            </a:r>
          </a:p>
          <a:p>
            <a:pPr algn="just">
              <a:lnSpc>
                <a:spcPts val="3796"/>
              </a:lnSpc>
              <a:spcBef>
                <a:spcPct val="0"/>
              </a:spcBef>
            </a:pP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FinEdge experienced critical failures when a new update caused system crashes in client environments due to an undocumented third-party library dependency.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⚠️ Operational Impact</a:t>
            </a:r>
          </a:p>
          <a:p>
            <a:pPr algn="just">
              <a:lnSpc>
                <a:spcPts val="3793"/>
              </a:lnSpc>
              <a:spcBef>
                <a:spcPct val="0"/>
              </a:spcBef>
            </a:pPr>
            <a:r>
              <a:rPr lang="en-US" sz="2709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System crashes severely disrupted financial operations for multiple clients, causing transaction failures and data processing delays.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🔍 Testing Gaps</a:t>
            </a:r>
          </a:p>
          <a:p>
            <a:pPr algn="just">
              <a:lnSpc>
                <a:spcPts val="3796"/>
              </a:lnSpc>
              <a:spcBef>
                <a:spcPct val="0"/>
              </a:spcBef>
            </a:pP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focused only on internal components with minimal attention to external dependencies and integration with diverse client environments.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🐛 </a:t>
            </a:r>
            <a:r>
              <a:rPr lang="en-US" b="true" sz="3200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Debugging Difficulties</a:t>
            </a:r>
          </a:p>
          <a:p>
            <a:pPr algn="just">
              <a:lnSpc>
                <a:spcPts val="3796"/>
              </a:lnSpc>
              <a:spcBef>
                <a:spcPct val="0"/>
              </a:spcBef>
            </a:pP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711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logs and absence of dependency version tracking made root cause identification extremely challenging.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643800" y="6718021"/>
            <a:ext cx="6010507" cy="3899316"/>
          </a:xfrm>
          <a:custGeom>
            <a:avLst/>
            <a:gdLst/>
            <a:ahLst/>
            <a:cxnLst/>
            <a:rect r="r" b="b" t="t" l="l"/>
            <a:pathLst>
              <a:path h="3899316" w="6010507">
                <a:moveTo>
                  <a:pt x="0" y="0"/>
                </a:moveTo>
                <a:lnTo>
                  <a:pt x="6010507" y="0"/>
                </a:lnTo>
                <a:lnTo>
                  <a:pt x="6010507" y="3899316"/>
                </a:lnTo>
                <a:lnTo>
                  <a:pt x="0" y="3899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42144" y="330200"/>
            <a:ext cx="10908723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Scenario Overview - A Critical Dependency Failure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361" y="1418908"/>
            <a:ext cx="9524038" cy="805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1️⃣ Inadequate Testing Strategy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testing focused on internal components only, completely ignoring external dependencies and their integration behavior in real-world client environments.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2️⃣ Missing Compatibility Validation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and system testing lacked comprehensive compatibility checks with third-party libraries across diverse client environments and configurations.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3️⃣ Poor Dependency Tracking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was difficult due to incomplete logs and complete absence of dependency version tracking across different deployment scenarios.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4️⃣ Flawed SCM Practices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SCM process did not track third-party library versions or configurations, leading to inconsistent deployments across client sites.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14824" y="1707115"/>
            <a:ext cx="7173176" cy="7967345"/>
          </a:xfrm>
          <a:custGeom>
            <a:avLst/>
            <a:gdLst/>
            <a:ahLst/>
            <a:cxnLst/>
            <a:rect r="r" b="b" t="t" l="l"/>
            <a:pathLst>
              <a:path h="7967345" w="7173176">
                <a:moveTo>
                  <a:pt x="0" y="0"/>
                </a:moveTo>
                <a:lnTo>
                  <a:pt x="7173176" y="0"/>
                </a:lnTo>
                <a:lnTo>
                  <a:pt x="7173176" y="7967345"/>
                </a:lnTo>
                <a:lnTo>
                  <a:pt x="0" y="7967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50" t="0" r="-9541" b="-42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9978" y="330200"/>
            <a:ext cx="643305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Unpacking the Core Problems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9220" y="1083977"/>
            <a:ext cx="8588226" cy="9481711"/>
          </a:xfrm>
          <a:custGeom>
            <a:avLst/>
            <a:gdLst/>
            <a:ahLst/>
            <a:cxnLst/>
            <a:rect r="r" b="b" t="t" l="l"/>
            <a:pathLst>
              <a:path h="9481711" w="8588226">
                <a:moveTo>
                  <a:pt x="0" y="0"/>
                </a:moveTo>
                <a:lnTo>
                  <a:pt x="8588226" y="0"/>
                </a:lnTo>
                <a:lnTo>
                  <a:pt x="8588226" y="9481711"/>
                </a:lnTo>
                <a:lnTo>
                  <a:pt x="0" y="9481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834" r="0" b="-38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361" y="1418908"/>
            <a:ext cx="8287934" cy="836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Internal Focus Only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strategy concentrated solely on internal components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dependencies were assumed to work without validation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consideration for diverse client environment configurations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 Integration Tests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compatibility testing with third-party libraries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environment variations were not simulated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deployment scenarios were never tested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Rushed Deployment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Pressure to deliver quickly bypassed thorough validation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testing with actual dependencies was skipped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 that "it works in dev" meant production-ready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94736" y="330200"/>
            <a:ext cx="1100354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Root Cause Analysis - Testing &amp; Validation Failures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361" y="1466533"/>
            <a:ext cx="9676829" cy="844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Dependency Version Control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Third-party library versions were not tracked in SCM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clients ended up with different library versions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standardized dependency management across deployments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Inconsistent Environments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Development, testing, and production had different library versions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environment configuration versioning or documentation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Client-specific configurations were not properly managed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 Dependency Documentation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dependencies were not documented adequately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compatibility matrices were never created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clear tracking of which library versions worked together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Version Control Scope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 was limited to source code only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and configurations were ignored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scripts and dependency manifests were not versioned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96190" y="1298853"/>
            <a:ext cx="6224645" cy="8988147"/>
          </a:xfrm>
          <a:custGeom>
            <a:avLst/>
            <a:gdLst/>
            <a:ahLst/>
            <a:cxnLst/>
            <a:rect r="r" b="b" t="t" l="l"/>
            <a:pathLst>
              <a:path h="8988147" w="6224645">
                <a:moveTo>
                  <a:pt x="0" y="0"/>
                </a:moveTo>
                <a:lnTo>
                  <a:pt x="6224645" y="0"/>
                </a:lnTo>
                <a:lnTo>
                  <a:pt x="6224645" y="8988147"/>
                </a:lnTo>
                <a:lnTo>
                  <a:pt x="0" y="8988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99" r="0" b="-39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7300" y="330200"/>
            <a:ext cx="1239841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SCM Crisis - Configuration Management Breakdown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361" y="1495108"/>
            <a:ext cx="8660901" cy="871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 spc="-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🧪 Enhanced Testing Strategy</a:t>
            </a:r>
          </a:p>
          <a:p>
            <a:pPr algn="just">
              <a:lnSpc>
                <a:spcPts val="2940"/>
              </a:lnSpc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Expanded Dependency Validation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comprehensive testing strategies to include dependency validation and compatibility testing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test suites covering various third-party library versions and configurations</a:t>
            </a:r>
          </a:p>
          <a:p>
            <a:pPr algn="just">
              <a:lnSpc>
                <a:spcPts val="2940"/>
              </a:lnSpc>
            </a:pPr>
            <a:r>
              <a:rPr lang="en-US" b="true" sz="2100" spc="-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Environment-Specific Testing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Strengthened validation and system testing with environment-specific tests covering third-party components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diverse client environments in staging area</a:t>
            </a:r>
          </a:p>
          <a:p>
            <a:pPr algn="just">
              <a:lnSpc>
                <a:spcPts val="2940"/>
              </a:lnSpc>
            </a:pPr>
            <a:r>
              <a:rPr lang="en-US" b="true" sz="2100" spc="-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Test Suites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automated integration tests for all external dependencies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compatibility checks with library updates</a:t>
            </a:r>
          </a:p>
          <a:p>
            <a:pPr algn="just">
              <a:lnSpc>
                <a:spcPts val="2940"/>
              </a:lnSpc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🔍 Improved Debugging Capabilities</a:t>
            </a:r>
          </a:p>
          <a:p>
            <a:pPr algn="just">
              <a:lnSpc>
                <a:spcPts val="2940"/>
              </a:lnSpc>
            </a:pPr>
            <a:r>
              <a:rPr lang="en-US" b="true" sz="2100" spc="-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Comprehensive Logging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comprehensive logging system including dependency version tracking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detailed logs for all third-party library interactions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centralized log aggregation for easier debugging</a:t>
            </a:r>
          </a:p>
          <a:p>
            <a:pPr algn="just">
              <a:lnSpc>
                <a:spcPts val="2940"/>
              </a:lnSpc>
            </a:pPr>
            <a:r>
              <a:rPr lang="en-US" b="true" sz="2100" spc="-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Dependency Traceability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dependency version tracking into all deployments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version compatibility reports</a:t>
            </a:r>
          </a:p>
          <a:p>
            <a:pPr algn="just" marL="453393" indent="-226697" lvl="1">
              <a:lnSpc>
                <a:spcPts val="2940"/>
              </a:lnSpc>
              <a:buFont typeface="Arial"/>
              <a:buChar char="•"/>
            </a:pPr>
            <a:r>
              <a:rPr lang="en-US" sz="2100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 of library behavior</a:t>
            </a:r>
          </a:p>
          <a:p>
            <a:pPr algn="just">
              <a:lnSpc>
                <a:spcPts val="126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7878" y="330200"/>
            <a:ext cx="695725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Strategic Solutions Implemented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0701874" y="1947044"/>
            <a:ext cx="0" cy="7868652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768549" y="1968203"/>
            <a:ext cx="7375860" cy="803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b="true" sz="2061" spc="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⚙️ Overhauled SCM Practices</a:t>
            </a:r>
          </a:p>
          <a:p>
            <a:pPr algn="just">
              <a:lnSpc>
                <a:spcPts val="3999"/>
              </a:lnSpc>
            </a:pPr>
            <a:r>
              <a:rPr lang="en-US" b="true" sz="2061" spc="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Dependency Management Tools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dependency management tools and environment configuration versioning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strict version tagging for all third-party components</a:t>
            </a:r>
          </a:p>
          <a:p>
            <a:pPr algn="just">
              <a:lnSpc>
                <a:spcPts val="3999"/>
              </a:lnSpc>
            </a:pPr>
            <a:r>
              <a:rPr lang="en-US" b="true" sz="2061" spc="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CI/CD Enhancement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Adopted continuous integration pipelines with automated dependency checks and compatibility tests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validation of library versions before deployment</a:t>
            </a:r>
          </a:p>
          <a:p>
            <a:pPr algn="just">
              <a:lnSpc>
                <a:spcPts val="3999"/>
              </a:lnSpc>
            </a:pPr>
            <a:r>
              <a:rPr lang="en-US" b="true" sz="2061" spc="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Configuration as Code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environment configurations now version-controlled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and dependency configurations stored in repositories</a:t>
            </a:r>
          </a:p>
          <a:p>
            <a:pPr algn="just" marL="445130" indent="-222565" lvl="1">
              <a:lnSpc>
                <a:spcPts val="3999"/>
              </a:lnSpc>
              <a:buFont typeface="Arial"/>
              <a:buChar char="•"/>
            </a:pPr>
            <a:r>
              <a:rPr lang="en-US" sz="2061" spc="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Reproducible deployment processes across all environments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1883" y="1915022"/>
            <a:ext cx="11695965" cy="7161191"/>
          </a:xfrm>
          <a:custGeom>
            <a:avLst/>
            <a:gdLst/>
            <a:ahLst/>
            <a:cxnLst/>
            <a:rect r="r" b="b" t="t" l="l"/>
            <a:pathLst>
              <a:path h="7161191" w="11695965">
                <a:moveTo>
                  <a:pt x="0" y="0"/>
                </a:moveTo>
                <a:lnTo>
                  <a:pt x="11695965" y="0"/>
                </a:lnTo>
                <a:lnTo>
                  <a:pt x="11695965" y="7161191"/>
                </a:lnTo>
                <a:lnTo>
                  <a:pt x="0" y="7161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900" r="0" b="-139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361" y="1495108"/>
            <a:ext cx="4733993" cy="912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 spc="-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Monitoring Metrics</a:t>
            </a:r>
          </a:p>
          <a:p>
            <a:pPr algn="just">
              <a:lnSpc>
                <a:spcPts val="2520"/>
              </a:lnSpc>
            </a:pPr>
            <a:r>
              <a:rPr lang="en-US" b="true" sz="1800" spc="-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Health Indicators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Crash rate per deployment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failure rates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response time degradation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Dependency-related error frequency</a:t>
            </a:r>
          </a:p>
          <a:p>
            <a:pPr algn="just">
              <a:lnSpc>
                <a:spcPts val="2520"/>
              </a:lnSpc>
            </a:pPr>
            <a:r>
              <a:rPr lang="en-US" b="true" sz="1800" spc="-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Dependency Health Tracking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version compatibility scores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Third-party API response times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service availability metrics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vulnerability alerts</a:t>
            </a:r>
          </a:p>
          <a:p>
            <a:pPr algn="just">
              <a:lnSpc>
                <a:spcPts val="2520"/>
              </a:lnSpc>
            </a:pPr>
            <a:r>
              <a:rPr lang="en-US" b="true" sz="1800" spc="-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Staff Feedback Integration</a:t>
            </a:r>
          </a:p>
          <a:p>
            <a:pPr algn="just">
              <a:lnSpc>
                <a:spcPts val="2520"/>
              </a:lnSpc>
            </a:pPr>
            <a:r>
              <a:rPr lang="en-US" b="true" sz="1800" spc="-1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Team Feedback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review insights on dependency usage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 experience with library integrations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and deployment time metrics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environment setup success rates</a:t>
            </a:r>
          </a:p>
          <a:p>
            <a:pPr algn="just">
              <a:lnSpc>
                <a:spcPts val="2520"/>
              </a:lnSpc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Team Feedback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incident reports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environment compatibility issues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success/failure rates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Rollback frequency and reasons</a:t>
            </a:r>
          </a:p>
          <a:p>
            <a:pPr algn="just">
              <a:lnSpc>
                <a:spcPts val="2520"/>
              </a:lnSpc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Feedback Loops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stability reports from clients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 from production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Client-reported compatibility issues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satisfaction scores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5226" y="330200"/>
            <a:ext cx="1216256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Metrics &amp; Feedback Loops for Continuous Improvement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361" y="1466533"/>
            <a:ext cx="9361013" cy="86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1️⃣ Comprehensive Dependency Testing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Thorough testing of third-party dependencies is crucial to prevent system crashes and ensure compatibility across diverse client environments.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2️⃣ Robust SCM for Dependencies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version control must extend beyond source code to include all dependencies, configurations, and environment specifications.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3️⃣ Environment-Aware Validation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testing must simulate real client environments with actual third-party libraries and various configuration scenarios.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4️⃣ Traceability is Essential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logging and dependency version tracking are vital for rapid debugging and root cause analysis.</a:t>
            </a:r>
          </a:p>
          <a:p>
            <a:pPr algn="just">
              <a:lnSpc>
                <a:spcPts val="4479"/>
              </a:lnSpc>
            </a:pPr>
            <a:r>
              <a:rPr lang="en-US" b="true" sz="3199" spc="-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5️⃣ Quality Over Speed</a:t>
            </a:r>
          </a:p>
          <a:p>
            <a:pPr algn="just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Rushed validation and deployment shortcuts lead to exponentially higher remediation costs and client dissatisfaction.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80374" y="2192256"/>
            <a:ext cx="7307626" cy="6708756"/>
          </a:xfrm>
          <a:custGeom>
            <a:avLst/>
            <a:gdLst/>
            <a:ahLst/>
            <a:cxnLst/>
            <a:rect r="r" b="b" t="t" l="l"/>
            <a:pathLst>
              <a:path h="6708756" w="7307626">
                <a:moveTo>
                  <a:pt x="0" y="0"/>
                </a:moveTo>
                <a:lnTo>
                  <a:pt x="7307626" y="0"/>
                </a:lnTo>
                <a:lnTo>
                  <a:pt x="7307626" y="6708756"/>
                </a:lnTo>
                <a:lnTo>
                  <a:pt x="0" y="6708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9" t="0" r="-245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7517" y="330200"/>
            <a:ext cx="96179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Key Takeaways - Preventing Future Failures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9361" y="1360805"/>
            <a:ext cx="15639939" cy="654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spc="-2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🎯 Clear Dependency Management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Third-party libraries were treated as black boxes with no version tracking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 dependency visibility with automated version management and compatibility matrices</a:t>
            </a:r>
          </a:p>
          <a:p>
            <a:pPr algn="l">
              <a:lnSpc>
                <a:spcPts val="4479"/>
              </a:lnSpc>
            </a:pPr>
            <a:r>
              <a:rPr lang="en-US" sz="3199" spc="-2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🔒 Controlled Library Versions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Before: 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SCM practices led to version confusion and inconsistent deployments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Strict version control ensures predictable and reliable deployments across all client sites</a:t>
            </a:r>
          </a:p>
          <a:p>
            <a:pPr algn="l">
              <a:lnSpc>
                <a:spcPts val="4479"/>
              </a:lnSpc>
            </a:pPr>
            <a:r>
              <a:rPr lang="en-US" sz="3199" spc="-2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✅ Improved System Quality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Missing integration tests allowed dependency issues to reach production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Comprehensive testing and mandatory compatibility checks maintain high system quality</a:t>
            </a:r>
          </a:p>
          <a:p>
            <a:pPr algn="l">
              <a:lnSpc>
                <a:spcPts val="4479"/>
              </a:lnSpc>
            </a:pPr>
            <a:r>
              <a:rPr lang="en-US" sz="3199" spc="-2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📊 Reliable Feedback Systems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systematic way to identify or prevent dependency-related failures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After:</a:t>
            </a: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monitoring and automated alerts enable proactive issue resolution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191695" y="6433959"/>
            <a:ext cx="9345475" cy="4357328"/>
          </a:xfrm>
          <a:custGeom>
            <a:avLst/>
            <a:gdLst/>
            <a:ahLst/>
            <a:cxnLst/>
            <a:rect r="r" b="b" t="t" l="l"/>
            <a:pathLst>
              <a:path h="4357328" w="9345475">
                <a:moveTo>
                  <a:pt x="0" y="0"/>
                </a:moveTo>
                <a:lnTo>
                  <a:pt x="9345475" y="0"/>
                </a:lnTo>
                <a:lnTo>
                  <a:pt x="9345475" y="4357328"/>
                </a:lnTo>
                <a:lnTo>
                  <a:pt x="0" y="4357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5910" y="330200"/>
            <a:ext cx="10041191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Excellence Through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0156441"/>
            <a:ext cx="1519933" cy="194053"/>
          </a:xfrm>
          <a:custGeom>
            <a:avLst/>
            <a:gdLst/>
            <a:ahLst/>
            <a:cxnLst/>
            <a:rect r="r" b="b" t="t" l="l"/>
            <a:pathLst>
              <a:path h="194053" w="1519933">
                <a:moveTo>
                  <a:pt x="0" y="0"/>
                </a:moveTo>
                <a:lnTo>
                  <a:pt x="1519933" y="0"/>
                </a:lnTo>
                <a:lnTo>
                  <a:pt x="1519933" y="194053"/>
                </a:lnTo>
                <a:lnTo>
                  <a:pt x="0" y="1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3653" y="6340440"/>
            <a:ext cx="84068" cy="57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b="true" sz="2495" spc="-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9895" y="6962556"/>
            <a:ext cx="77600" cy="52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2304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8411" y="1379855"/>
            <a:ext cx="12339815" cy="90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Critical Success Factors</a:t>
            </a:r>
          </a:p>
          <a:p>
            <a:pPr algn="l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Dependency Awareness: Never treat external libraries as guaranteed stable components</a:t>
            </a:r>
          </a:p>
          <a:p>
            <a:pPr algn="l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Test Realistically: Testing must include actual client environment configurations</a:t>
            </a:r>
          </a:p>
          <a:p>
            <a:pPr algn="l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Track Everything: Version control extends to all dependencies and configurations</a:t>
            </a:r>
          </a:p>
          <a:p>
            <a:pPr algn="l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Monitor Continuously: Real-time feedback prevents issues from escalating</a:t>
            </a:r>
          </a:p>
          <a:p>
            <a:pPr algn="l">
              <a:lnSpc>
                <a:spcPts val="3779"/>
              </a:lnSpc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✅ Document Thoroughly: Comprehensive documentation saves hours of debugging time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Ongoing Improvements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AI-driven dependency conflict prediction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automated client environment replication systems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self-healing deployment mechanisms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predictive analytics for library compatibility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Establishing industry partnerships for early vulnerability alerts</a:t>
            </a:r>
          </a:p>
          <a:p>
            <a:pPr algn="l">
              <a:lnSpc>
                <a:spcPts val="3779"/>
              </a:lnSpc>
            </a:pPr>
            <a:r>
              <a:rPr lang="en-US" sz="2700" spc="-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Metrics Achieved Post-Implementation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 reduction in dependency-related crashes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 faster debugging and issue resolution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tracking of all third-party library versions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60% improvement in client satisfaction scores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critical failures in the last 6 months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197841" y="5328142"/>
            <a:ext cx="77676" cy="4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037364" y="4287231"/>
            <a:ext cx="5822011" cy="6388097"/>
          </a:xfrm>
          <a:custGeom>
            <a:avLst/>
            <a:gdLst/>
            <a:ahLst/>
            <a:cxnLst/>
            <a:rect r="r" b="b" t="t" l="l"/>
            <a:pathLst>
              <a:path h="6388097" w="5822011">
                <a:moveTo>
                  <a:pt x="0" y="0"/>
                </a:moveTo>
                <a:lnTo>
                  <a:pt x="5822011" y="0"/>
                </a:lnTo>
                <a:lnTo>
                  <a:pt x="5822011" y="6388097"/>
                </a:lnTo>
                <a:lnTo>
                  <a:pt x="0" y="638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4" r="0" b="-21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24040" y="5366242"/>
            <a:ext cx="77676" cy="45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306" spc="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0317" y="330200"/>
            <a:ext cx="793237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3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Lessons Learned &amp; Future Roadmap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7820" y="2506990"/>
            <a:ext cx="43215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69266" y="1718434"/>
            <a:ext cx="91345" cy="76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b="true" sz="2712" spc="-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04759" y="8419757"/>
            <a:ext cx="89726" cy="53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663" spc="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4724" y="7685522"/>
            <a:ext cx="91345" cy="6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b="true" sz="2712" spc="-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5764" y="4551677"/>
            <a:ext cx="4346972" cy="125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7"/>
              </a:lnSpc>
              <a:spcBef>
                <a:spcPct val="0"/>
              </a:spcBef>
            </a:pPr>
            <a:r>
              <a:rPr lang="en-US" b="true" sz="5503" spc="7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DAG06_3GvUc</dc:identifier>
  <dcterms:modified xsi:type="dcterms:W3CDTF">2011-08-01T06:04:30Z</dcterms:modified>
  <cp:revision>1</cp:revision>
  <dc:title>23ITR145(CASESTUDY).pdf</dc:title>
</cp:coreProperties>
</file>